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 Detection for Liquid-Cooled PCBs</a:t>
            </a:r>
          </a:p>
          <a:p>
            <a:r>
              <a:t>in Datacenter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practices: detection reliability, cost, board integration</a:t>
            </a:r>
          </a:p>
          <a:p>
            <a:pPr>
              <a:defRPr sz="1800"/>
            </a:pPr>
            <a:r>
              <a:t>Igor Gurevich — 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Leak Detection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Direct-to-chip liquid cooling is mainstream for high-TDP boards</a:t>
            </a:r>
          </a:p>
          <a:p>
            <a:pPr>
              <a:defRPr sz="1800"/>
            </a:pPr>
            <a:r>
              <a:t>One undetected leak = board loss, rack downtime, cascading damage</a:t>
            </a:r>
          </a:p>
          <a:p>
            <a:pPr>
              <a:defRPr sz="1800"/>
            </a:pPr>
            <a:r>
              <a:t>Goals: fast detection, low false positives, low BOM cost, BMC-actionable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1: Rope/Cable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Cable routed under cold plates, tubing, chassis low points</a:t>
            </a:r>
          </a:p>
          <a:p>
            <a:pPr>
              <a:defRPr sz="1800"/>
            </a:pPr>
            <a:r>
              <a:t>Detects liquid anywhere along length (R or C change)</a:t>
            </a:r>
          </a:p>
          <a:p>
            <a:pPr>
              <a:defRPr sz="1800"/>
            </a:pPr>
            <a:r>
              <a:t>+ Wide coverage, flexible, reusable</a:t>
            </a:r>
          </a:p>
          <a:p>
            <a:pPr>
              <a:defRPr sz="1800"/>
            </a:pPr>
            <a:r>
              <a:t>– Condensation false positives, routing complexity, moderate cost</a:t>
            </a:r>
          </a:p>
          <a:p>
            <a:pPr>
              <a:defRPr sz="1800"/>
            </a:pPr>
            <a:r>
              <a:t>Best for: system/chassis-level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2: Interdigitated PCB Traces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Exposed comb/grid copper at high-risk locations; liquid bridges gap</a:t>
            </a:r>
          </a:p>
          <a:p>
            <a:pPr>
              <a:defRPr sz="1800"/>
            </a:pPr>
            <a:r>
              <a:t>+ Near-zero BOM cost, standard PCB process, pinpoint, fast</a:t>
            </a:r>
          </a:p>
          <a:p>
            <a:pPr>
              <a:defRPr sz="1800"/>
            </a:pPr>
            <a:r>
              <a:t>– Limited coverage, flux contamination risk, on-board only</a:t>
            </a:r>
          </a:p>
          <a:p>
            <a:pPr>
              <a:defRPr sz="1800"/>
            </a:pPr>
            <a:r>
              <a:t>Best for: cold plate ports, QD fittings, under connectors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3: Point (Spot)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Packaged discrete sensors at key locations</a:t>
            </a:r>
          </a:p>
          <a:p>
            <a:pPr>
              <a:defRPr sz="1800"/>
            </a:pPr>
            <a:r>
              <a:t>+ High sensitivity, simple readout, off-the-shelf (Honeywell, Sensata)</a:t>
            </a:r>
          </a:p>
          <a:p>
            <a:pPr>
              <a:defRPr sz="1800"/>
            </a:pPr>
            <a:r>
              <a:t>– Tiny coverage area; many units needed for distributed protection</a:t>
            </a:r>
          </a:p>
          <a:p>
            <a:pPr>
              <a:defRPr sz="1800"/>
            </a:pPr>
            <a:r>
              <a:t>Best for: critical single-point risks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4: Capacitive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liquid via capacitance change on pads</a:t>
            </a:r>
          </a:p>
          <a:p>
            <a:pPr>
              <a:defRPr sz="1800"/>
            </a:pPr>
            <a:r>
              <a:t>+ Rejects condensation, works through conformal coating</a:t>
            </a:r>
          </a:p>
          <a:p>
            <a:pPr>
              <a:defRPr sz="1800"/>
            </a:pPr>
            <a:r>
              <a:t>– More complex electronics, higher cost</a:t>
            </a:r>
          </a:p>
          <a:p>
            <a:pPr>
              <a:defRPr sz="1800"/>
            </a:pPr>
            <a:r>
              <a:t>Best for: environments intolerant of false positives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Rope/Cable:  High reliability | Mod cost | Large coverage</a:t>
            </a:r>
          </a:p>
          <a:p>
            <a:pPr>
              <a:defRPr sz="1800"/>
            </a:pPr>
            <a:r>
              <a:t>Interdigitated: Med-High | Low cost | Localized</a:t>
            </a:r>
          </a:p>
          <a:p>
            <a:pPr>
              <a:defRPr sz="1800"/>
            </a:pPr>
            <a:r>
              <a:t>Point Sensors: Medium | Low cost | Localized</a:t>
            </a:r>
          </a:p>
          <a:p>
            <a:pPr>
              <a:defRPr sz="1800"/>
            </a:pPr>
            <a:r>
              <a:t>Capacitive: High | Mod-High cost | Localized/Medium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Redundancy: wide-area rope + point-of-risk traces</a:t>
            </a:r>
          </a:p>
          <a:p>
            <a:pPr>
              <a:defRPr sz="1800"/>
            </a:pPr>
            <a:r>
              <a:t>Placement: under ports, along coolant lines, gravity low points</a:t>
            </a:r>
          </a:p>
          <a:p>
            <a:pPr>
              <a:defRPr sz="1800"/>
            </a:pPr>
            <a:r>
              <a:t>Validate sensors against coolant chemistry (PG25 vs dielectric)</a:t>
            </a:r>
          </a:p>
          <a:p>
            <a:pPr>
              <a:defRPr sz="1800"/>
            </a:pPr>
            <a:r>
              <a:t>BMC integration: debounce logic → alert, pump stop, valve isolation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PCB comb traces at cold plate fittings &amp; QDs (~free in BOM)</a:t>
            </a:r>
          </a:p>
          <a:p>
            <a:pPr>
              <a:defRPr sz="1800"/>
            </a:pPr>
            <a:r>
              <a:t>Rope sensor along manifold/tubing path &amp; chassis low points</a:t>
            </a:r>
          </a:p>
          <a:p>
            <a:pPr>
              <a:defRPr sz="1800"/>
            </a:pPr>
            <a:r>
              <a:t>Signals → BMC with condensation-rejection logic</a:t>
            </a:r>
          </a:p>
          <a:p>
            <a:pPr>
              <a:defRPr sz="1800"/>
            </a:pPr>
            <a:r>
              <a:t>Confirmed leak → automated flow isolation + alert</a:t>
            </a:r>
          </a:p>
          <a:p>
            <a:pPr>
              <a:defRPr sz="1800"/>
            </a:pPr>
            <a:r>
              <a:t>Industry practice: Dell/HPE/Lenovo hybrid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Schneider Electric — Liquid Leak Detection in Datacenters</a:t>
            </a:r>
          </a:p>
          <a:p>
            <a:pPr>
              <a:defRPr sz="1800"/>
            </a:pPr>
            <a:r>
              <a:t>Honeywell — Liquid Leak Detection Sensors</a:t>
            </a:r>
          </a:p>
          <a:p>
            <a:pPr>
              <a:defRPr sz="1800"/>
            </a:pPr>
            <a:r>
              <a:t>ASUS — Liquid Cooling Solutions for Servers whitepaper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